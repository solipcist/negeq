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C62257-E5D9-4434-9491-2B07B4B79F55}" v="2" dt="2025-11-15T23:32:01.563"/>
    <p1510:client id="{AF3D1A7A-B3FB-471D-A242-400C2D117C80}" v="2" dt="2025-11-15T22:42:30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51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ory Gleason" userId="b1ec2f4375cfe13f" providerId="LiveId" clId="{C2C0BC71-58CD-435B-B30D-F08721449CF0}"/>
    <pc:docChg chg="custSel addSld modSld">
      <pc:chgData name="Gregory Gleason" userId="b1ec2f4375cfe13f" providerId="LiveId" clId="{C2C0BC71-58CD-435B-B30D-F08721449CF0}" dt="2025-11-15T23:32:01.563" v="223" actId="14100"/>
      <pc:docMkLst>
        <pc:docMk/>
      </pc:docMkLst>
      <pc:sldChg chg="modSp">
        <pc:chgData name="Gregory Gleason" userId="b1ec2f4375cfe13f" providerId="LiveId" clId="{C2C0BC71-58CD-435B-B30D-F08721449CF0}" dt="2025-11-15T23:32:01.563" v="223" actId="14100"/>
        <pc:sldMkLst>
          <pc:docMk/>
          <pc:sldMk cId="1753263880" sldId="258"/>
        </pc:sldMkLst>
        <pc:graphicFrameChg chg="mod">
          <ac:chgData name="Gregory Gleason" userId="b1ec2f4375cfe13f" providerId="LiveId" clId="{C2C0BC71-58CD-435B-B30D-F08721449CF0}" dt="2025-11-15T23:32:01.563" v="223" actId="14100"/>
          <ac:graphicFrameMkLst>
            <pc:docMk/>
            <pc:sldMk cId="1753263880" sldId="258"/>
            <ac:graphicFrameMk id="4" creationId="{7090EB7C-D8D8-B658-939A-6A84664D2DEF}"/>
          </ac:graphicFrameMkLst>
        </pc:graphicFrameChg>
      </pc:sldChg>
      <pc:sldChg chg="addSp delSp modSp new mod">
        <pc:chgData name="Gregory Gleason" userId="b1ec2f4375cfe13f" providerId="LiveId" clId="{C2C0BC71-58CD-435B-B30D-F08721449CF0}" dt="2025-11-15T23:23:36.852" v="100" actId="20577"/>
        <pc:sldMkLst>
          <pc:docMk/>
          <pc:sldMk cId="2954669157" sldId="260"/>
        </pc:sldMkLst>
        <pc:spChg chg="mod">
          <ac:chgData name="Gregory Gleason" userId="b1ec2f4375cfe13f" providerId="LiveId" clId="{C2C0BC71-58CD-435B-B30D-F08721449CF0}" dt="2025-11-15T23:23:36.852" v="100" actId="20577"/>
          <ac:spMkLst>
            <pc:docMk/>
            <pc:sldMk cId="2954669157" sldId="260"/>
            <ac:spMk id="2" creationId="{4F36C25C-EE07-E79F-3D79-0658906EAAE2}"/>
          </ac:spMkLst>
        </pc:spChg>
        <pc:spChg chg="del">
          <ac:chgData name="Gregory Gleason" userId="b1ec2f4375cfe13f" providerId="LiveId" clId="{C2C0BC71-58CD-435B-B30D-F08721449CF0}" dt="2025-11-15T23:22:08.249" v="1" actId="22"/>
          <ac:spMkLst>
            <pc:docMk/>
            <pc:sldMk cId="2954669157" sldId="260"/>
            <ac:spMk id="3" creationId="{0839FAC9-F96E-0696-3A2A-2631DF30365B}"/>
          </ac:spMkLst>
        </pc:spChg>
        <pc:picChg chg="add mod ord">
          <ac:chgData name="Gregory Gleason" userId="b1ec2f4375cfe13f" providerId="LiveId" clId="{C2C0BC71-58CD-435B-B30D-F08721449CF0}" dt="2025-11-15T23:23:30.314" v="95" actId="1076"/>
          <ac:picMkLst>
            <pc:docMk/>
            <pc:sldMk cId="2954669157" sldId="260"/>
            <ac:picMk id="5" creationId="{55B0DD10-905C-ACE7-AD82-9FCFDAF97C58}"/>
          </ac:picMkLst>
        </pc:picChg>
      </pc:sldChg>
      <pc:sldChg chg="addSp delSp modSp new mod">
        <pc:chgData name="Gregory Gleason" userId="b1ec2f4375cfe13f" providerId="LiveId" clId="{C2C0BC71-58CD-435B-B30D-F08721449CF0}" dt="2025-11-15T23:31:15.245" v="221" actId="255"/>
        <pc:sldMkLst>
          <pc:docMk/>
          <pc:sldMk cId="4095712920" sldId="261"/>
        </pc:sldMkLst>
        <pc:spChg chg="del">
          <ac:chgData name="Gregory Gleason" userId="b1ec2f4375cfe13f" providerId="LiveId" clId="{C2C0BC71-58CD-435B-B30D-F08721449CF0}" dt="2025-11-15T23:30:03.330" v="104" actId="478"/>
          <ac:spMkLst>
            <pc:docMk/>
            <pc:sldMk cId="4095712920" sldId="261"/>
            <ac:spMk id="2" creationId="{3EC787FF-D08C-D9F0-70EB-F2F4717B23AE}"/>
          </ac:spMkLst>
        </pc:spChg>
        <pc:spChg chg="del mod">
          <ac:chgData name="Gregory Gleason" userId="b1ec2f4375cfe13f" providerId="LiveId" clId="{C2C0BC71-58CD-435B-B30D-F08721449CF0}" dt="2025-11-15T23:29:53.630" v="103" actId="22"/>
          <ac:spMkLst>
            <pc:docMk/>
            <pc:sldMk cId="4095712920" sldId="261"/>
            <ac:spMk id="3" creationId="{A1B61299-B860-7BD6-B691-EDDB5AC60AF8}"/>
          </ac:spMkLst>
        </pc:spChg>
        <pc:spChg chg="add mod">
          <ac:chgData name="Gregory Gleason" userId="b1ec2f4375cfe13f" providerId="LiveId" clId="{C2C0BC71-58CD-435B-B30D-F08721449CF0}" dt="2025-11-15T23:31:15.245" v="221" actId="255"/>
          <ac:spMkLst>
            <pc:docMk/>
            <pc:sldMk cId="4095712920" sldId="261"/>
            <ac:spMk id="7" creationId="{3D5DED17-B011-04E1-48BD-A990A12E3E8F}"/>
          </ac:spMkLst>
        </pc:spChg>
        <pc:picChg chg="add mod ord">
          <ac:chgData name="Gregory Gleason" userId="b1ec2f4375cfe13f" providerId="LiveId" clId="{C2C0BC71-58CD-435B-B30D-F08721449CF0}" dt="2025-11-15T23:31:06.050" v="220" actId="1076"/>
          <ac:picMkLst>
            <pc:docMk/>
            <pc:sldMk cId="4095712920" sldId="261"/>
            <ac:picMk id="5" creationId="{4EACB09F-0E9B-9C40-CF68-63D514FEA5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1957-9374-A49C-0EF4-F872BB54C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82FC0-DB06-0291-473A-E69365F03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A1DF-35AD-0544-5C64-7C818FB1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AEA9E-BF5D-2F74-4936-F4EE636A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55A41-5DEB-1F90-DB15-C32226A0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0585-D60C-342F-CE08-A3FD9BEA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2062B-5DEB-FE22-7447-F2775C3B4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E6AD0-8E26-CCCC-E028-33BF4C941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E9AAF-9909-2B8D-2D99-C5217BA4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B14C-5266-7327-4F9B-0EDA20A4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04E0-153E-5FAB-41EF-7D3086A8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39ABF-7F3F-0941-461C-BE11142D9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4D343-BA5E-0C50-17F9-9B074768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77ABA-9F61-01EB-5D12-F360799F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63FFB-2519-9D79-2EA0-77B872C5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1A74-5AF5-7601-DDEA-E057E96A3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10A9A-74C5-FF02-BFBC-CF72F7414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8AFFF-D782-8ECF-820A-A5049EA90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5FB9-1049-F438-32D7-B1953F1E6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F2435-B599-DB22-209A-8D3EC297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B2C2F-B69F-A974-81AF-22580D4E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1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85C7-F2BC-35C5-1078-1C34C39B9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61FA8-A9B4-A968-0B9E-A995B4FA5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95E9A-4D8D-A258-ECC5-5558275E8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68490-36E5-5519-A2ED-FDF12ED1F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77130-993E-BAC7-A0AF-599D62106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C3165-E502-8CBB-4033-C9E148FA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103E2-7DA1-5046-834C-1983DF1A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CAF1D-EC3B-05B4-CBE4-FA9880AA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90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F6B3-AF74-AE23-FCE6-2C20CA4F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973E6-357A-B5D2-8D8B-DFFA6E88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E9E78-4A6C-9A3A-0C70-5BD6F715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A9D7D-EADA-A98A-4EF0-32A13613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2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14F2C-3BB1-4A6B-8758-90E89042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E7C23-B9D1-C508-54E9-4922A2B1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307A1-12BF-BD54-AF93-A6CA2BAB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9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23C1-41EF-E4FD-000F-48C12B570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F3A93-F089-AEF6-396B-2AF1EF703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40648-2C97-2C6F-321B-0346D3AC3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A5AFA-B8AE-2599-CE90-4B614F38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C73CD-BF9E-0A51-9931-C0E083DE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9BAB8-B5F0-F95C-CDBB-8C2499EE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6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85E2-5440-FA0A-7DE5-4709739A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27F4E-FC73-2289-2D31-DAAABCE98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6EE09-E82B-D3EF-0F44-405BC267D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1E004-74B3-A008-8214-565312DB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909B3-0CFB-FCF4-BA1A-1367BA2A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93F05-32D0-FBFA-B209-8CD970EE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FA72-D795-1284-325F-D3E81984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F27C5-3818-A64F-3348-8822AB65C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2476D-336E-63AD-3DA5-046B4841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E537C-BB55-5D7E-F7D9-03918731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DAC73-BB14-1E8F-189E-E835F54F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5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DDA7C-E304-3F1A-72B4-4F525F5F0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1B3E1-4555-F298-7A2F-BCEA3C83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17A7-C7FF-B19D-57FA-CFF96839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05D3B-7CB9-C174-4923-2F2FE7DB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F1256-C479-8AF0-2000-1F3550F5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6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39DBD-9B85-21DE-6F72-EE1D8D99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F8B99-E7F7-838F-FE38-FFFD4814B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78528-0C5C-D7F0-D72B-D1B5727D2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F0BA4-0AE6-4191-9853-F3D923B051A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E4057-15AA-6EE8-CF29-6AE5A92FE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F888F-1CCD-3940-EEFF-2FF54EAF2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D416E-B57C-4AD0-95CF-641FFF822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62ED-0D2A-E526-D6DF-A4D163FF6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7743" y="508852"/>
            <a:ext cx="4652790" cy="1169145"/>
          </a:xfrm>
        </p:spPr>
        <p:txBody>
          <a:bodyPr/>
          <a:lstStyle/>
          <a:p>
            <a:r>
              <a:rPr lang="en-US" dirty="0" err="1"/>
              <a:t>Negeq</a:t>
            </a:r>
            <a:r>
              <a:rPr lang="en-US" dirty="0"/>
              <a:t> Bikes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7942E-552D-430B-AA7F-9F1C50836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7743" y="2974555"/>
            <a:ext cx="4939229" cy="2723920"/>
          </a:xfrm>
        </p:spPr>
        <p:txBody>
          <a:bodyPr/>
          <a:lstStyle/>
          <a:p>
            <a:r>
              <a:rPr lang="en-US" dirty="0"/>
              <a:t>Increased post-purchase customer satisfaction through an A* search with optimized heuristic designed for Alaska’s Railbelt</a:t>
            </a:r>
          </a:p>
          <a:p>
            <a:endParaRPr lang="en-US" dirty="0"/>
          </a:p>
          <a:p>
            <a:r>
              <a:rPr lang="en-US" dirty="0"/>
              <a:t>Alex Saelee and Gregory Gleason</a:t>
            </a:r>
          </a:p>
        </p:txBody>
      </p:sp>
      <p:pic>
        <p:nvPicPr>
          <p:cNvPr id="5" name="Picture 4" descr="A couple of people riding bikes on a mountain road&#10;&#10;AI-generated content may be incorrect.">
            <a:extLst>
              <a:ext uri="{FF2B5EF4-FFF2-40B4-BE49-F238E27FC236}">
                <a16:creationId xmlns:a16="http://schemas.microsoft.com/office/drawing/2014/main" id="{4C256A51-70F9-9CE2-CC0B-A19D6EABC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10945-E159-0C7D-F091-F3E8248A3784}"/>
              </a:ext>
            </a:extLst>
          </p:cNvPr>
          <p:cNvSpPr txBox="1"/>
          <p:nvPr/>
        </p:nvSpPr>
        <p:spPr>
          <a:xfrm>
            <a:off x="7607604" y="6164482"/>
            <a:ext cx="3759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1400" dirty="0"/>
              <a:t>*  </a:t>
            </a:r>
            <a:r>
              <a:rPr lang="en-US" sz="1400" dirty="0" err="1"/>
              <a:t>Negeq</a:t>
            </a:r>
            <a:r>
              <a:rPr lang="en-US" sz="1400" dirty="0"/>
              <a:t> means wind of the north in Yupik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909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B19D-4F4E-3466-B378-36ABE62B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most common informed search algorithm </a:t>
            </a:r>
            <a:r>
              <a:rPr lang="en-US" sz="3600" b="1" dirty="0"/>
              <a:t>is A* search</a:t>
            </a:r>
            <a:r>
              <a:rPr lang="en-US" sz="3600" dirty="0"/>
              <a:t>, a best-first search that uses the evaluation function  </a:t>
            </a:r>
            <a:r>
              <a:rPr lang="en-US" sz="3600" i="1" dirty="0"/>
              <a:t>f(n) = g(n) + h(n)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EDE5-0108-0637-6652-E6236D9F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7103"/>
            <a:ext cx="10515600" cy="414985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Problem:    </a:t>
            </a:r>
            <a:r>
              <a:rPr lang="en-US" sz="2400" dirty="0"/>
              <a:t>After the purchase of a bike, customers are likely to purchase bike accessories.  To increase customer satisfaction, we communicate offers of accessories based on known customer behavior.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Datasets:    </a:t>
            </a:r>
            <a:r>
              <a:rPr lang="en-US" sz="2400" dirty="0"/>
              <a:t>We use national data sets of customer behavior.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Approach:   </a:t>
            </a:r>
            <a:r>
              <a:rPr lang="en-US" sz="2400" dirty="0"/>
              <a:t>Due to Alaska conditions, customers have preferences which systematically vary from national averages.  Hence, we develop A* search with a tailored heuristic.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Evaluation:   </a:t>
            </a:r>
            <a:r>
              <a:rPr lang="en-US" sz="2400" dirty="0"/>
              <a:t>We plan to simulate accessory purchasing.</a:t>
            </a:r>
          </a:p>
        </p:txBody>
      </p:sp>
    </p:spTree>
    <p:extLst>
      <p:ext uri="{BB962C8B-B14F-4D97-AF65-F5344CB8AC3E}">
        <p14:creationId xmlns:p14="http://schemas.microsoft.com/office/powerpoint/2010/main" val="403161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64964-CE7E-5857-DE0E-DAA724B6E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761" y="492583"/>
            <a:ext cx="10515600" cy="594126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090EB7C-D8D8-B658-939A-6A84664D2D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52121"/>
              </p:ext>
            </p:extLst>
          </p:nvPr>
        </p:nvGraphicFramePr>
        <p:xfrm>
          <a:off x="1988242" y="722312"/>
          <a:ext cx="8356597" cy="5832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05599" imgH="5410058" progId="Excel.Sheet.12">
                  <p:embed/>
                </p:oleObj>
              </mc:Choice>
              <mc:Fallback>
                <p:oleObj name="Worksheet" r:id="rId2" imgW="7105599" imgH="541005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090EB7C-D8D8-B658-939A-6A84664D2D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8242" y="722312"/>
                        <a:ext cx="8356597" cy="5832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326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F2BA93-DF7F-20EC-CA99-99FDF97EF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805" y="657836"/>
            <a:ext cx="8380336" cy="5203137"/>
          </a:xfrm>
        </p:spPr>
      </p:pic>
    </p:spTree>
    <p:extLst>
      <p:ext uri="{BB962C8B-B14F-4D97-AF65-F5344CB8AC3E}">
        <p14:creationId xmlns:p14="http://schemas.microsoft.com/office/powerpoint/2010/main" val="321910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6C25C-EE07-E79F-3D79-0658906E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developing our conditional probability table for </a:t>
            </a:r>
            <a:r>
              <a:rPr lang="en-US" i="1" dirty="0"/>
              <a:t>h(n) </a:t>
            </a:r>
            <a:r>
              <a:rPr lang="en-US" dirty="0"/>
              <a:t>we use the Bayes Rule: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0DD10-905C-ACE7-AD82-9FCFDAF97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656" y="2368626"/>
            <a:ext cx="8289867" cy="309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69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ACB09F-0E9B-9C40-CF68-63D514FEA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245" y="1172292"/>
            <a:ext cx="10405509" cy="5174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5DED17-B011-04E1-48BD-A990A12E3E8F}"/>
              </a:ext>
            </a:extLst>
          </p:cNvPr>
          <p:cNvSpPr txBox="1"/>
          <p:nvPr/>
        </p:nvSpPr>
        <p:spPr>
          <a:xfrm>
            <a:off x="1792995" y="333127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Our initial run of the selection code: </a:t>
            </a:r>
          </a:p>
        </p:txBody>
      </p:sp>
    </p:spTree>
    <p:extLst>
      <p:ext uri="{BB962C8B-B14F-4D97-AF65-F5344CB8AC3E}">
        <p14:creationId xmlns:p14="http://schemas.microsoft.com/office/powerpoint/2010/main" val="409571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174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Worksheet</vt:lpstr>
      <vt:lpstr>Negeq Bikes</vt:lpstr>
      <vt:lpstr>The most common informed search algorithm is A* search, a best-first search that uses the evaluation function  f(n) = g(n) + h(n)</vt:lpstr>
      <vt:lpstr>PowerPoint Presentation</vt:lpstr>
      <vt:lpstr>PowerPoint Presentation</vt:lpstr>
      <vt:lpstr>In developing our conditional probability table for h(n) we use the Bayes Rule: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Gleason</dc:creator>
  <cp:lastModifiedBy>Gregory Gleason</cp:lastModifiedBy>
  <cp:revision>3</cp:revision>
  <dcterms:created xsi:type="dcterms:W3CDTF">2025-11-15T21:50:39Z</dcterms:created>
  <dcterms:modified xsi:type="dcterms:W3CDTF">2025-11-15T23:32:06Z</dcterms:modified>
</cp:coreProperties>
</file>